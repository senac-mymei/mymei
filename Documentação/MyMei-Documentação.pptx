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9" r:id="rId3"/>
    <p:sldId id="270" r:id="rId4"/>
    <p:sldId id="271" r:id="rId5"/>
    <p:sldId id="268" r:id="rId6"/>
    <p:sldId id="259" r:id="rId7"/>
    <p:sldId id="258" r:id="rId8"/>
    <p:sldId id="260" r:id="rId9"/>
    <p:sldId id="273" r:id="rId10"/>
  </p:sldIdLst>
  <p:sldSz cx="7559675" cy="1069181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8BAA8B-624C-41C0-AA01-99BDFAA9BCAF}" v="143" dt="2026-05-15T14:34:34.0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41" autoAdjust="0"/>
    <p:restoredTop sz="94660"/>
  </p:normalViewPr>
  <p:slideViewPr>
    <p:cSldViewPr snapToGrid="0">
      <p:cViewPr varScale="1">
        <p:scale>
          <a:sx n="70" d="100"/>
          <a:sy n="70" d="100"/>
        </p:scale>
        <p:origin x="14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50BF5-C75B-449F-A0C4-62FC41B0547E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832A68-EACE-4800-A2D7-19E66DFAF7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7274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00F8B7-047B-4B2A-9D26-F2E2551C78CE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F10D0B-A4AD-47D8-93D0-AF9B5AE061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7104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9224B-E82E-4B05-BB31-3AED870BB35A}" type="datetime1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147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040B6-875D-4EC4-894C-D44344045833}" type="datetime1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1217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761D9-B795-4ACB-B1E0-E3A11A959B9B}" type="datetime1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0409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4E9E-8552-4F22-9AA3-F4FF2FE61357}" type="datetime1">
              <a:rPr lang="pt-BR" smtClean="0"/>
              <a:t>01/06/2026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9071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ED432-D8BC-4349-9B30-A7040D89A90F}" type="datetime1">
              <a:rPr lang="pt-BR" smtClean="0"/>
              <a:t>01/06/2026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4710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7DE7-E8E0-43FF-BBB9-48B98E5EA4CB}" type="datetime1">
              <a:rPr lang="pt-BR" smtClean="0"/>
              <a:t>01/06/2026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916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5D0D-9B8C-4332-878D-8AE65CEBBB7E}" type="datetime1">
              <a:rPr lang="pt-BR" smtClean="0"/>
              <a:t>01/06/2026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886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5E491-C9E3-4ED2-9B1B-2CCFBE4BA56A}" type="datetime1">
              <a:rPr lang="pt-BR" smtClean="0"/>
              <a:t>01/06/2026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068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D7C5-6B04-496E-BCD5-349B27B5485B}" type="datetime1">
              <a:rPr lang="pt-BR" smtClean="0"/>
              <a:t>01/06/2026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066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0A775-6615-4BF2-B414-BDD3741353E9}" type="datetime1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850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0FFF3-0240-408A-B910-07B241300C13}" type="datetime1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6127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4C3AB3-D723-4710-A60A-0716326F0848}" type="datetime1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21A57-1C3B-4C80-B070-41ED3E39E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071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jpe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59675" cy="2029968"/>
          </a:xfrm>
          <a:prstGeom prst="rect">
            <a:avLst/>
          </a:prstGeom>
        </p:spPr>
      </p:pic>
      <p:pic>
        <p:nvPicPr>
          <p:cNvPr id="19" name="Imagem 1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3"/>
          <a:stretch/>
        </p:blipFill>
        <p:spPr>
          <a:xfrm>
            <a:off x="0" y="8661845"/>
            <a:ext cx="7559671" cy="2029968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22" y="10042083"/>
            <a:ext cx="492339" cy="633413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965" y="5404514"/>
            <a:ext cx="3847993" cy="4950589"/>
          </a:xfrm>
          <a:prstGeom prst="rect">
            <a:avLst/>
          </a:prstGeom>
        </p:spPr>
      </p:pic>
      <p:grpSp>
        <p:nvGrpSpPr>
          <p:cNvPr id="3" name="Agrupar 2"/>
          <p:cNvGrpSpPr/>
          <p:nvPr/>
        </p:nvGrpSpPr>
        <p:grpSpPr>
          <a:xfrm>
            <a:off x="989618" y="600501"/>
            <a:ext cx="5943445" cy="2077576"/>
            <a:chOff x="675719" y="2197289"/>
            <a:chExt cx="5943445" cy="2077576"/>
          </a:xfrm>
        </p:grpSpPr>
        <p:pic>
          <p:nvPicPr>
            <p:cNvPr id="26" name="Imagem 25">
              <a:extLst>
                <a:ext uri="{FF2B5EF4-FFF2-40B4-BE49-F238E27FC236}">
                  <a16:creationId xmlns:a16="http://schemas.microsoft.com/office/drawing/2014/main" id="{D2C093CB-EDB0-6755-B9C5-B5B39ECB67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719" y="2378175"/>
              <a:ext cx="1890059" cy="1896690"/>
            </a:xfrm>
            <a:prstGeom prst="rect">
              <a:avLst/>
            </a:prstGeom>
          </p:spPr>
        </p:pic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901C7C1C-5581-BB88-55B4-18CA8BCF50F4}"/>
                </a:ext>
              </a:extLst>
            </p:cNvPr>
            <p:cNvSpPr/>
            <p:nvPr/>
          </p:nvSpPr>
          <p:spPr>
            <a:xfrm>
              <a:off x="2233852" y="3480488"/>
              <a:ext cx="4344657" cy="70788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2000" b="1" cap="none" spc="0" dirty="0">
                  <a:ln w="12700" cmpd="sng">
                    <a:solidFill>
                      <a:srgbClr val="0070C0"/>
                    </a:solidFill>
                    <a:prstDash val="solid"/>
                  </a:ln>
                  <a:solidFill>
                    <a:schemeClr val="bg1"/>
                  </a:solidFill>
                  <a:effectLst/>
                </a:rPr>
                <a:t>Sistema de gerenciamento para microempreendedor individual </a:t>
              </a:r>
            </a:p>
          </p:txBody>
        </p:sp>
        <p:sp>
          <p:nvSpPr>
            <p:cNvPr id="29" name="Retângulo 28"/>
            <p:cNvSpPr/>
            <p:nvPr/>
          </p:nvSpPr>
          <p:spPr>
            <a:xfrm>
              <a:off x="2154970" y="2197289"/>
              <a:ext cx="4464194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9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MyMei</a:t>
              </a:r>
            </a:p>
          </p:txBody>
        </p:sp>
      </p:grpSp>
      <p:sp>
        <p:nvSpPr>
          <p:cNvPr id="30" name="Retângulo 29">
            <a:extLst>
              <a:ext uri="{FF2B5EF4-FFF2-40B4-BE49-F238E27FC236}">
                <a16:creationId xmlns:a16="http://schemas.microsoft.com/office/drawing/2014/main" id="{A09B8508-5A3B-69BA-7617-3BAA2E35FA84}"/>
              </a:ext>
            </a:extLst>
          </p:cNvPr>
          <p:cNvSpPr/>
          <p:nvPr/>
        </p:nvSpPr>
        <p:spPr>
          <a:xfrm>
            <a:off x="244475" y="3725838"/>
            <a:ext cx="7110484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1" cap="none" spc="0" dirty="0">
                <a:ln w="12700" cmpd="sng">
                  <a:solidFill>
                    <a:srgbClr val="0070C0"/>
                  </a:solidFill>
                  <a:prstDash val="solid"/>
                </a:ln>
                <a:gradFill>
                  <a:gsLst>
                    <a:gs pos="0">
                      <a:schemeClr val="tx2">
                        <a:lumMod val="75000"/>
                        <a:lumOff val="25000"/>
                      </a:schemeClr>
                    </a:gs>
                    <a:gs pos="31000">
                      <a:srgbClr val="0070C0"/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"</a:t>
            </a:r>
            <a:r>
              <a:rPr lang="pt-BR" sz="3200" b="1" dirty="0" err="1">
                <a:ln w="12700" cmpd="sng">
                  <a:solidFill>
                    <a:srgbClr val="0070C0"/>
                  </a:solidFill>
                  <a:prstDash val="solid"/>
                </a:ln>
                <a:gradFill>
                  <a:gsLst>
                    <a:gs pos="0">
                      <a:schemeClr val="tx2">
                        <a:lumMod val="75000"/>
                        <a:lumOff val="25000"/>
                      </a:schemeClr>
                    </a:gs>
                    <a:gs pos="31000">
                      <a:srgbClr val="0070C0"/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MyMei:O</a:t>
            </a:r>
            <a:r>
              <a:rPr lang="pt-BR" sz="3200" b="1" dirty="0">
                <a:ln w="12700" cmpd="sng">
                  <a:solidFill>
                    <a:srgbClr val="0070C0"/>
                  </a:solidFill>
                  <a:prstDash val="solid"/>
                </a:ln>
                <a:gradFill>
                  <a:gsLst>
                    <a:gs pos="0">
                      <a:schemeClr val="tx2">
                        <a:lumMod val="75000"/>
                        <a:lumOff val="25000"/>
                      </a:schemeClr>
                    </a:gs>
                    <a:gs pos="31000">
                      <a:srgbClr val="0070C0"/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 dia a dia do seu MEI sob controle.</a:t>
            </a:r>
            <a:endParaRPr lang="pt-BR" sz="3200" b="1" cap="none" spc="0" dirty="0">
              <a:ln w="12700" cmpd="sng">
                <a:solidFill>
                  <a:srgbClr val="0070C0"/>
                </a:solidFill>
                <a:prstDash val="solid"/>
              </a:ln>
              <a:gradFill>
                <a:gsLst>
                  <a:gs pos="0">
                    <a:schemeClr val="tx2">
                      <a:lumMod val="75000"/>
                      <a:lumOff val="25000"/>
                    </a:schemeClr>
                  </a:gs>
                  <a:gs pos="31000">
                    <a:srgbClr val="0070C0"/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4" name="Espaço Reservado para Número de Slide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652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59675" cy="2029968"/>
          </a:xfrm>
          <a:prstGeom prst="rect">
            <a:avLst/>
          </a:prstGeom>
        </p:spPr>
      </p:pic>
      <p:pic>
        <p:nvPicPr>
          <p:cNvPr id="19" name="Imagem 1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3"/>
          <a:stretch/>
        </p:blipFill>
        <p:spPr>
          <a:xfrm>
            <a:off x="4" y="8747570"/>
            <a:ext cx="7559671" cy="2029968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22" y="10042083"/>
            <a:ext cx="492339" cy="633413"/>
          </a:xfrm>
          <a:prstGeom prst="rect">
            <a:avLst/>
          </a:prstGeom>
        </p:spPr>
      </p:pic>
      <p:sp>
        <p:nvSpPr>
          <p:cNvPr id="15" name="Retângulo Arredondado 14"/>
          <p:cNvSpPr/>
          <p:nvPr/>
        </p:nvSpPr>
        <p:spPr>
          <a:xfrm>
            <a:off x="88710" y="2151608"/>
            <a:ext cx="7382254" cy="44193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Sumário </a:t>
            </a:r>
          </a:p>
        </p:txBody>
      </p:sp>
      <p:sp>
        <p:nvSpPr>
          <p:cNvPr id="20" name="Retângulo 19"/>
          <p:cNvSpPr/>
          <p:nvPr/>
        </p:nvSpPr>
        <p:spPr>
          <a:xfrm>
            <a:off x="488004" y="423080"/>
            <a:ext cx="2828402" cy="68647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MyMei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19FDF76-A56B-44F3-729A-F39DF103C5BD}"/>
              </a:ext>
            </a:extLst>
          </p:cNvPr>
          <p:cNvSpPr txBox="1"/>
          <p:nvPr/>
        </p:nvSpPr>
        <p:spPr>
          <a:xfrm>
            <a:off x="0" y="2573042"/>
            <a:ext cx="7559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Sobre esta documentação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2088107" y="3025529"/>
            <a:ext cx="528130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100" dirty="0">
                <a:solidFill>
                  <a:srgbClr val="002060"/>
                </a:solidFill>
              </a:rPr>
              <a:t>Esta é a documentação oficial do MyMei, um sistema de gestão desenvolvido para Microempreendedores Individuais. Aqui você encontrará informações sobre o sistema, suas funcionalidades, as tecnologias utilizadas, a estrutura do banco de dados, os fluxos de negócio e todos os detalhes técnicos necessários para compreender e utilizar o projeto.</a:t>
            </a:r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056" y="37463"/>
            <a:ext cx="1548734" cy="1992505"/>
          </a:xfrm>
          <a:prstGeom prst="rect">
            <a:avLst/>
          </a:prstGeom>
        </p:spPr>
      </p:pic>
      <p:pic>
        <p:nvPicPr>
          <p:cNvPr id="25" name="Imagem 2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0" t="6901" r="23103" b="12388"/>
          <a:stretch/>
        </p:blipFill>
        <p:spPr>
          <a:xfrm>
            <a:off x="272572" y="2687887"/>
            <a:ext cx="1743999" cy="1666488"/>
          </a:xfrm>
          <a:prstGeom prst="rect">
            <a:avLst/>
          </a:prstGeom>
        </p:spPr>
      </p:pic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949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59675" cy="202996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056" y="37463"/>
            <a:ext cx="1548734" cy="1992505"/>
          </a:xfrm>
          <a:prstGeom prst="rect">
            <a:avLst/>
          </a:prstGeom>
        </p:spPr>
      </p:pic>
      <p:sp>
        <p:nvSpPr>
          <p:cNvPr id="7" name="Retângulo Arredondado 6"/>
          <p:cNvSpPr/>
          <p:nvPr/>
        </p:nvSpPr>
        <p:spPr>
          <a:xfrm>
            <a:off x="88710" y="2151608"/>
            <a:ext cx="7382254" cy="44193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MEI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85951" y="3038892"/>
            <a:ext cx="5405125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100" dirty="0">
                <a:solidFill>
                  <a:srgbClr val="002060"/>
                </a:solidFill>
              </a:rPr>
              <a:t>O MEI (Microempreendedor Individual) é um modelo simplificado para formalizar autônomos e pequenos empreendedores, com limite de faturamento anual de R$ 81 mil. </a:t>
            </a:r>
          </a:p>
          <a:p>
            <a:pPr algn="just"/>
            <a:r>
              <a:rPr lang="pt-BR" sz="1100" dirty="0">
                <a:solidFill>
                  <a:srgbClr val="002060"/>
                </a:solidFill>
              </a:rPr>
              <a:t>A abertura do CNPJ MEI é gratuita, mas existe um custo para manter a empresa. A taxa mensal do MEI é o valor dos impostos que são recolhidos por meio de uma única guia, chamada de Documento de Arrecadação do Simples Nacional (DAS MEI). Os valores variam de R$ 82,05 a R$ 87,05 dependendo da atividade. </a:t>
            </a:r>
          </a:p>
          <a:p>
            <a:pPr algn="just"/>
            <a:r>
              <a:rPr lang="pt-BR" sz="1100" dirty="0">
                <a:solidFill>
                  <a:srgbClr val="002060"/>
                </a:solidFill>
              </a:rPr>
              <a:t>Ao se formalizar como MEI, o empreendedor passa a ter um CNPJ próprio, além da possibilidade de emitir notas fiscais e de ter acesso aos benefícios da Previdência Social (INSS). Por isso, abrir empresa como MEI é a forma mais fácil e simples de formalizar um negócio com CNPJ. </a:t>
            </a:r>
          </a:p>
          <a:p>
            <a:pPr algn="just"/>
            <a:endParaRPr lang="pt-BR" sz="1100" dirty="0">
              <a:solidFill>
                <a:srgbClr val="002060"/>
              </a:solidFill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2069315" y="2687929"/>
            <a:ext cx="161935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Oque e um MEI ?</a:t>
            </a:r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3"/>
          <a:stretch/>
        </p:blipFill>
        <p:spPr>
          <a:xfrm>
            <a:off x="0" y="8661845"/>
            <a:ext cx="7559671" cy="2029968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22" y="10042083"/>
            <a:ext cx="492339" cy="633413"/>
          </a:xfrm>
          <a:prstGeom prst="rect">
            <a:avLst/>
          </a:prstGeom>
        </p:spPr>
      </p:pic>
      <p:sp>
        <p:nvSpPr>
          <p:cNvPr id="20" name="Retângulo 19"/>
          <p:cNvSpPr/>
          <p:nvPr/>
        </p:nvSpPr>
        <p:spPr>
          <a:xfrm>
            <a:off x="4411171" y="4758450"/>
            <a:ext cx="103990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Requisitos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2516217" y="5092873"/>
            <a:ext cx="484255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  <a:t>Faturamento: Limite de R\( 81.000,00 por ano (ou R\) 6.750 por mês).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  <a:t>Sociedade: Não pode ser sócio, administrador ou titular de outra empresa.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  <a:t>Contratação: Pode contratar no máximo um empregado que receba o salário mínimo ou o piso da categoria.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  <a:t>Atividade: A sua profissão deve constar na lista oficial de ocupações permitidas (CNAE).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rgbClr val="002060"/>
              </a:solidFill>
              <a:cs typeface="Calibri" panose="020F0502020204030204" pitchFamily="34" charset="0"/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2163737" y="7002061"/>
            <a:ext cx="89646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Exceção </a:t>
            </a:r>
          </a:p>
          <a:p>
            <a:pPr algn="ctr"/>
            <a:endParaRPr lang="pt-BR" sz="16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0" t="6901" r="23103" b="12388"/>
          <a:stretch/>
        </p:blipFill>
        <p:spPr>
          <a:xfrm>
            <a:off x="5581551" y="2715182"/>
            <a:ext cx="1743999" cy="1666488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0" y="4910732"/>
            <a:ext cx="2084083" cy="1645328"/>
          </a:xfrm>
          <a:prstGeom prst="rect">
            <a:avLst/>
          </a:prstGeom>
        </p:spPr>
      </p:pic>
      <p:sp>
        <p:nvSpPr>
          <p:cNvPr id="27" name="Retângulo 26"/>
          <p:cNvSpPr/>
          <p:nvPr/>
        </p:nvSpPr>
        <p:spPr>
          <a:xfrm>
            <a:off x="488004" y="423080"/>
            <a:ext cx="2828402" cy="68647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MyMei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3</a:t>
            </a:fld>
            <a:endParaRPr lang="pt-BR"/>
          </a:p>
        </p:txBody>
      </p:sp>
      <p:sp>
        <p:nvSpPr>
          <p:cNvPr id="24" name="CaixaDeTexto 23"/>
          <p:cNvSpPr txBox="1"/>
          <p:nvPr/>
        </p:nvSpPr>
        <p:spPr>
          <a:xfrm>
            <a:off x="290748" y="7288540"/>
            <a:ext cx="48425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  <a:t>Não pode ser MEI quem exerce atividades intelectuais. Por exemplo: médicos, engenheiros, dentistas, advogados, psicólogos, nutricionistas, fisioterapeutas, entre outros.</a:t>
            </a:r>
          </a:p>
          <a:p>
            <a:pPr lvl="0" algn="just"/>
            <a:endParaRPr lang="pt-BR" sz="1100" dirty="0">
              <a:solidFill>
                <a:srgbClr val="002060"/>
              </a:solidFill>
              <a:cs typeface="Calibri" panose="020F0502020204030204" pitchFamily="34" charset="0"/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4253241" y="8380420"/>
            <a:ext cx="111370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Obrigações</a:t>
            </a:r>
          </a:p>
          <a:p>
            <a:pPr algn="ctr"/>
            <a:endParaRPr lang="pt-BR" sz="16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2573367" y="8667206"/>
            <a:ext cx="4842557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  <a:t>Pagar uma contribuição mensal (DAS) até a data do vencimento.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  <a:t>Emitir Nota Fiscal quando realizar negócios com pessoas jurídicas.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  <a:t>Preencher o Relatório Mensal.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  <a:t>Guardar Notas Fiscais emitidas de compra e venda por 5 anos.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  <a:t>Enviar a Declaração de Faturamento Anual.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  <a:t>Observar o limite de compra e pagamento de diferença de alíquota que não devem ser superiores a 80% (oitenta por cento) dos ingressos de recursos durante o ano-calendário, excluído o ano de início de atividade.</a:t>
            </a:r>
          </a:p>
          <a:p>
            <a:pPr lvl="0" algn="just"/>
            <a:endParaRPr lang="pt-BR" sz="1100" dirty="0">
              <a:solidFill>
                <a:srgbClr val="002060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6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59675" cy="202996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056" y="37463"/>
            <a:ext cx="1548734" cy="1992505"/>
          </a:xfrm>
          <a:prstGeom prst="rect">
            <a:avLst/>
          </a:prstGeom>
        </p:spPr>
      </p:pic>
      <p:sp>
        <p:nvSpPr>
          <p:cNvPr id="7" name="Retângulo Arredondado 6"/>
          <p:cNvSpPr/>
          <p:nvPr/>
        </p:nvSpPr>
        <p:spPr>
          <a:xfrm>
            <a:off x="88710" y="2151608"/>
            <a:ext cx="7382254" cy="44193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MEI</a:t>
            </a:r>
          </a:p>
        </p:txBody>
      </p:sp>
      <p:grpSp>
        <p:nvGrpSpPr>
          <p:cNvPr id="6" name="Agrupar 5"/>
          <p:cNvGrpSpPr/>
          <p:nvPr/>
        </p:nvGrpSpPr>
        <p:grpSpPr>
          <a:xfrm>
            <a:off x="1976651" y="2697454"/>
            <a:ext cx="5405125" cy="2136067"/>
            <a:chOff x="185951" y="2687929"/>
            <a:chExt cx="5405125" cy="2136067"/>
          </a:xfrm>
        </p:grpSpPr>
        <p:sp>
          <p:nvSpPr>
            <p:cNvPr id="8" name="CaixaDeTexto 7"/>
            <p:cNvSpPr txBox="1"/>
            <p:nvPr/>
          </p:nvSpPr>
          <p:spPr>
            <a:xfrm>
              <a:off x="185951" y="3038892"/>
              <a:ext cx="5405125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rgbClr val="002060"/>
                  </a:solidFill>
                </a:rPr>
                <a:t>A ocupação é atividade econômica exercida pelo MEI na prática.</a:t>
              </a:r>
            </a:p>
            <a:p>
              <a:pPr algn="just"/>
              <a:endParaRPr lang="pt-BR" sz="1100" dirty="0">
                <a:solidFill>
                  <a:srgbClr val="002060"/>
                </a:solidFill>
              </a:endParaRPr>
            </a:p>
            <a:p>
              <a:pPr algn="just"/>
              <a:r>
                <a:rPr lang="pt-BR" sz="1100" dirty="0">
                  <a:solidFill>
                    <a:srgbClr val="002060"/>
                  </a:solidFill>
                </a:rPr>
                <a:t>Toda ocupação permitida é associada a um código da Classificação Nacional das Atividades Econômicas (CNAE).</a:t>
              </a:r>
            </a:p>
            <a:p>
              <a:pPr algn="just"/>
              <a:endParaRPr lang="pt-BR" sz="1100" dirty="0">
                <a:solidFill>
                  <a:srgbClr val="002060"/>
                </a:solidFill>
              </a:endParaRPr>
            </a:p>
            <a:p>
              <a:pPr algn="just"/>
              <a:r>
                <a:rPr lang="pt-BR" sz="1100" dirty="0">
                  <a:solidFill>
                    <a:srgbClr val="002060"/>
                  </a:solidFill>
                </a:rPr>
                <a:t>Usamos o termo "ocupação" devido à sua familiaridade, facilitando assim a identificação da atividade pelo empreendedor.</a:t>
              </a:r>
            </a:p>
            <a:p>
              <a:pPr algn="just"/>
              <a:endParaRPr lang="pt-BR" sz="1100" dirty="0">
                <a:solidFill>
                  <a:srgbClr val="002060"/>
                </a:solidFill>
              </a:endParaRPr>
            </a:p>
            <a:p>
              <a:pPr algn="just"/>
              <a:r>
                <a:rPr lang="pt-BR" sz="1100" dirty="0">
                  <a:solidFill>
                    <a:srgbClr val="002060"/>
                  </a:solidFill>
                </a:rPr>
                <a:t>Se uma única ocupação não representa tudo que você faz, é possível escolher 1 ocupação como principal e outras 15 ocupações secundárias.</a:t>
              </a:r>
            </a:p>
          </p:txBody>
        </p:sp>
        <p:sp>
          <p:nvSpPr>
            <p:cNvPr id="10" name="Retângulo 9"/>
            <p:cNvSpPr/>
            <p:nvPr/>
          </p:nvSpPr>
          <p:spPr>
            <a:xfrm>
              <a:off x="1863846" y="2687929"/>
              <a:ext cx="2030300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Ocupações Permitidas</a:t>
              </a:r>
            </a:p>
          </p:txBody>
        </p:sp>
      </p:grpSp>
      <p:pic>
        <p:nvPicPr>
          <p:cNvPr id="19" name="Imagem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3"/>
          <a:stretch/>
        </p:blipFill>
        <p:spPr>
          <a:xfrm>
            <a:off x="0" y="8661845"/>
            <a:ext cx="7559671" cy="2029968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22" y="10042083"/>
            <a:ext cx="492339" cy="633413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0" t="6901" r="23103" b="12388"/>
          <a:stretch/>
        </p:blipFill>
        <p:spPr>
          <a:xfrm>
            <a:off x="180876" y="3010457"/>
            <a:ext cx="1743999" cy="1666488"/>
          </a:xfrm>
          <a:prstGeom prst="rect">
            <a:avLst/>
          </a:prstGeom>
        </p:spPr>
      </p:pic>
      <p:sp>
        <p:nvSpPr>
          <p:cNvPr id="27" name="Retângulo 26"/>
          <p:cNvSpPr/>
          <p:nvPr/>
        </p:nvSpPr>
        <p:spPr>
          <a:xfrm>
            <a:off x="488004" y="423080"/>
            <a:ext cx="2828402" cy="68647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MyMei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2366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59675" cy="202996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587" y="0"/>
            <a:ext cx="1548734" cy="1992505"/>
          </a:xfrm>
          <a:prstGeom prst="rect">
            <a:avLst/>
          </a:prstGeom>
        </p:spPr>
      </p:pic>
      <p:sp>
        <p:nvSpPr>
          <p:cNvPr id="7" name="Retângulo Arredondado 6"/>
          <p:cNvSpPr/>
          <p:nvPr/>
        </p:nvSpPr>
        <p:spPr>
          <a:xfrm>
            <a:off x="88710" y="2151608"/>
            <a:ext cx="7382254" cy="44193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Sobre O MyMei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76426" y="2943642"/>
            <a:ext cx="54051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  <a:t>O MyMei e um sistema de gestão integrado e acessível para Microempreendedores Individuais (MEI), focado no controle eficiente de Ordens de Serviço (OS), que otimize a operação, melhore a comunicação com o cliente e forneça indicadores básicos para a tomada de decisão, contribuindo para a profissionalização e o crescimento sustentável do negócio."</a:t>
            </a:r>
            <a:b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</a:br>
            <a:endParaRPr lang="pt-BR" sz="1100" dirty="0">
              <a:solidFill>
                <a:srgbClr val="002060"/>
              </a:solidFill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2185946" y="2687929"/>
            <a:ext cx="138608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Geral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3446762" y="4296500"/>
            <a:ext cx="302339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Qual problema o Software resolve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2631622" y="4615794"/>
            <a:ext cx="48393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  <a:t>Para muitos MEIs, a gestão do dia a dia é sinônimo de desorganização: anotações soltas, mensagens perdidas no celular e planilhas confusas. Esse método prejudica a eficiência, a confiabilidade e o crescimento do negócio. Este projeto propõe um </a:t>
            </a:r>
            <a:r>
              <a:rPr lang="pt-BR" sz="1100" b="1" dirty="0">
                <a:solidFill>
                  <a:srgbClr val="002060"/>
                </a:solidFill>
                <a:cs typeface="Calibri" panose="020F0502020204030204" pitchFamily="34" charset="0"/>
              </a:rPr>
              <a:t>sistema integrado de controle de ordens de serviço</a:t>
            </a:r>
            <a: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  <a:t> que substitui a bagunça por um fluxo de trabalho organizado, garantindo que nenhum serviço seja esquecido, nenhum cliente seja negligenciado e toda informação esteja a um clique de distância, </a:t>
            </a:r>
            <a:r>
              <a:rPr lang="pt-BR" sz="1100" b="1" dirty="0">
                <a:solidFill>
                  <a:srgbClr val="002060"/>
                </a:solidFill>
                <a:cs typeface="Calibri" panose="020F0502020204030204" pitchFamily="34" charset="0"/>
              </a:rPr>
              <a:t>aumentando a produtividade e a qualidade do serviço prestado.</a:t>
            </a:r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3"/>
          <a:stretch/>
        </p:blipFill>
        <p:spPr>
          <a:xfrm>
            <a:off x="0" y="8661845"/>
            <a:ext cx="7559671" cy="2029968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22" y="10042083"/>
            <a:ext cx="492339" cy="633413"/>
          </a:xfrm>
          <a:prstGeom prst="rect">
            <a:avLst/>
          </a:prstGeom>
        </p:spPr>
      </p:pic>
      <p:sp>
        <p:nvSpPr>
          <p:cNvPr id="20" name="Retângulo 19"/>
          <p:cNvSpPr/>
          <p:nvPr/>
        </p:nvSpPr>
        <p:spPr>
          <a:xfrm>
            <a:off x="1876841" y="6244350"/>
            <a:ext cx="237475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 onde o MyMei surgiu ?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44492" y="6550198"/>
            <a:ext cx="484255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  <a:t>O MyMei nasceu como projeto de conclusão do curso Técnico em Desenvolvimento de Sistemas da Faculdade Senac Minas, no ano de 2026.</a:t>
            </a:r>
          </a:p>
          <a:p>
            <a:pPr lvl="0" algn="just"/>
            <a: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  <a:t>Desenvolvido em colaboração entre alunos e professores, o sistema representa a união entre teoria e prática, aplicando de forma concreta os conhecimentos adquiridos ao longo da formação. Mais do que um requisito acadêmico, o MyMei é a prova de que a tecnologia, quando construída em equipe e com propósito, pode transformar ideias em soluções reais para quem empreende.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3798095" y="8338326"/>
            <a:ext cx="250639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Equipe de Desenvolvimento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461930" y="8787979"/>
            <a:ext cx="717872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1100" b="1" dirty="0" err="1">
                <a:solidFill>
                  <a:srgbClr val="002060"/>
                </a:solidFill>
                <a:cs typeface="Calibri" panose="020F0502020204030204" pitchFamily="34" charset="0"/>
              </a:rPr>
              <a:t>Shanaya</a:t>
            </a:r>
            <a:r>
              <a:rPr lang="pt-BR" sz="1100" b="1" dirty="0">
                <a:solidFill>
                  <a:srgbClr val="002060"/>
                </a:solidFill>
                <a:cs typeface="Calibri" panose="020F0502020204030204" pitchFamily="34" charset="0"/>
              </a:rPr>
              <a:t> </a:t>
            </a:r>
            <a:r>
              <a:rPr lang="pt-BR" sz="1100" b="1" dirty="0" err="1">
                <a:solidFill>
                  <a:srgbClr val="002060"/>
                </a:solidFill>
                <a:cs typeface="Calibri" panose="020F0502020204030204" pitchFamily="34" charset="0"/>
              </a:rPr>
              <a:t>Nataly</a:t>
            </a:r>
            <a: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pt-BR" sz="1100" b="1" dirty="0">
                <a:solidFill>
                  <a:srgbClr val="002060"/>
                </a:solidFill>
                <a:cs typeface="Calibri" panose="020F0502020204030204" pitchFamily="34" charset="0"/>
              </a:rPr>
              <a:t>Isaac Lacerda </a:t>
            </a:r>
            <a:endParaRPr lang="pt-BR" sz="1100" dirty="0">
              <a:solidFill>
                <a:srgbClr val="002060"/>
              </a:solidFill>
              <a:cs typeface="Calibri" panose="020F0502020204030204" pitchFamily="34" charset="0"/>
            </a:endParaRPr>
          </a:p>
          <a:p>
            <a:pPr lvl="0" algn="ctr"/>
            <a:r>
              <a:rPr lang="pt-BR" sz="1100" b="1" dirty="0">
                <a:solidFill>
                  <a:srgbClr val="002060"/>
                </a:solidFill>
                <a:cs typeface="Calibri" panose="020F0502020204030204" pitchFamily="34" charset="0"/>
              </a:rPr>
              <a:t>Simone Alves </a:t>
            </a:r>
            <a:endParaRPr lang="pt-BR" sz="1100" dirty="0">
              <a:solidFill>
                <a:srgbClr val="002060"/>
              </a:solidFill>
              <a:cs typeface="Calibri" panose="020F0502020204030204" pitchFamily="34" charset="0"/>
            </a:endParaRPr>
          </a:p>
          <a:p>
            <a:pPr lvl="0" algn="ctr"/>
            <a:r>
              <a:rPr lang="pt-BR" sz="1100" b="1" dirty="0">
                <a:solidFill>
                  <a:srgbClr val="002060"/>
                </a:solidFill>
                <a:cs typeface="Calibri" panose="020F0502020204030204" pitchFamily="34" charset="0"/>
              </a:rPr>
              <a:t>Raphael Nunes </a:t>
            </a:r>
            <a:endParaRPr lang="pt-BR" sz="1100" dirty="0">
              <a:solidFill>
                <a:srgbClr val="002060"/>
              </a:solidFill>
              <a:cs typeface="Calibri" panose="020F0502020204030204" pitchFamily="34" charset="0"/>
            </a:endParaRPr>
          </a:p>
          <a:p>
            <a:pPr lvl="0" algn="ctr"/>
            <a:r>
              <a:rPr lang="pt-BR" sz="1100" b="1" dirty="0">
                <a:solidFill>
                  <a:srgbClr val="002060"/>
                </a:solidFill>
                <a:cs typeface="Calibri" panose="020F0502020204030204" pitchFamily="34" charset="0"/>
              </a:rPr>
              <a:t>Larissa de Souza </a:t>
            </a:r>
            <a:endParaRPr lang="pt-BR" sz="1100" dirty="0">
              <a:solidFill>
                <a:srgbClr val="002060"/>
              </a:solidFill>
              <a:cs typeface="Calibri" panose="020F0502020204030204" pitchFamily="34" charset="0"/>
            </a:endParaRPr>
          </a:p>
          <a:p>
            <a:pPr lvl="0" algn="ctr"/>
            <a:r>
              <a:rPr lang="pt-BR" sz="1100" b="1" dirty="0">
                <a:solidFill>
                  <a:srgbClr val="002060"/>
                </a:solidFill>
                <a:cs typeface="Calibri" panose="020F0502020204030204" pitchFamily="34" charset="0"/>
              </a:rPr>
              <a:t>Luiz Felipe </a:t>
            </a:r>
            <a:endParaRPr lang="pt-BR" sz="1100" dirty="0">
              <a:solidFill>
                <a:srgbClr val="002060"/>
              </a:solidFill>
              <a:cs typeface="Calibri" panose="020F0502020204030204" pitchFamily="34" charset="0"/>
            </a:endParaRPr>
          </a:p>
          <a:p>
            <a:pPr lvl="0" algn="ctr"/>
            <a:r>
              <a:rPr lang="pt-BR" sz="1100" b="1" dirty="0">
                <a:solidFill>
                  <a:srgbClr val="002060"/>
                </a:solidFill>
                <a:cs typeface="Calibri" panose="020F0502020204030204" pitchFamily="34" charset="0"/>
              </a:rPr>
              <a:t>Aline Ester </a:t>
            </a:r>
            <a:endParaRPr lang="pt-BR" sz="1100" dirty="0">
              <a:solidFill>
                <a:srgbClr val="002060"/>
              </a:solidFill>
              <a:cs typeface="Calibri" panose="020F0502020204030204" pitchFamily="34" charset="0"/>
            </a:endParaRPr>
          </a:p>
          <a:p>
            <a:pPr lvl="0" algn="ctr"/>
            <a:endParaRPr lang="pt-BR" sz="1100" dirty="0">
              <a:solidFill>
                <a:srgbClr val="002060"/>
              </a:solidFill>
              <a:cs typeface="Calibri" panose="020F050202020403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0" t="6901" r="23103" b="12388"/>
          <a:stretch/>
        </p:blipFill>
        <p:spPr>
          <a:xfrm>
            <a:off x="5581551" y="2715182"/>
            <a:ext cx="1743999" cy="1666488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00" y="4296500"/>
            <a:ext cx="2267266" cy="1924319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480" y="6158507"/>
            <a:ext cx="2084083" cy="1645328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725" y="7990722"/>
            <a:ext cx="4112913" cy="2741942"/>
          </a:xfrm>
          <a:prstGeom prst="rect">
            <a:avLst/>
          </a:prstGeom>
        </p:spPr>
      </p:pic>
      <p:sp>
        <p:nvSpPr>
          <p:cNvPr id="27" name="Retângulo 26"/>
          <p:cNvSpPr/>
          <p:nvPr/>
        </p:nvSpPr>
        <p:spPr>
          <a:xfrm>
            <a:off x="488004" y="423080"/>
            <a:ext cx="2828402" cy="68647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MyMei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503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44"/>
          <a:stretch/>
        </p:blipFill>
        <p:spPr>
          <a:xfrm>
            <a:off x="0" y="0"/>
            <a:ext cx="7559675" cy="762375"/>
          </a:xfrm>
          <a:prstGeom prst="rect">
            <a:avLst/>
          </a:prstGeom>
        </p:spPr>
      </p:pic>
      <p:sp>
        <p:nvSpPr>
          <p:cNvPr id="7" name="Retângulo Arredondado 6"/>
          <p:cNvSpPr/>
          <p:nvPr/>
        </p:nvSpPr>
        <p:spPr>
          <a:xfrm>
            <a:off x="88707" y="879962"/>
            <a:ext cx="7382254" cy="44193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Forma de Lucrar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76529" y="1765471"/>
            <a:ext cx="46972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pt-BR" sz="1100" dirty="0">
                <a:solidFill>
                  <a:srgbClr val="002060"/>
                </a:solidFill>
                <a:cs typeface="Calibri" panose="020F0502020204030204" pitchFamily="34" charset="0"/>
              </a:rPr>
              <a:t>O sistema adotará um modelo de negócios baseado em assinaturas (SaaS - Software as a Service), segmentado em planos escalonados que atendem às diferentes necessidades e estágios de crescimento do microempreendedor. A proposta de valor será ampliada com o oferecimento de suporte técnico especializado e, nos planos superiores, ferramentas de análise de dados para uma gestão mais estratégica.</a:t>
            </a:r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3"/>
          <a:stretch/>
        </p:blipFill>
        <p:spPr>
          <a:xfrm>
            <a:off x="0" y="8661845"/>
            <a:ext cx="7559671" cy="2029968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22" y="10042083"/>
            <a:ext cx="492339" cy="633413"/>
          </a:xfrm>
          <a:prstGeom prst="rect">
            <a:avLst/>
          </a:prstGeom>
        </p:spPr>
      </p:pic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555688"/>
              </p:ext>
            </p:extLst>
          </p:nvPr>
        </p:nvGraphicFramePr>
        <p:xfrm>
          <a:off x="376529" y="3317042"/>
          <a:ext cx="7010142" cy="6359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071">
                  <a:extLst>
                    <a:ext uri="{9D8B030D-6E8A-4147-A177-3AD203B41FA5}">
                      <a16:colId xmlns:a16="http://schemas.microsoft.com/office/drawing/2014/main" val="2284377045"/>
                    </a:ext>
                  </a:extLst>
                </a:gridCol>
                <a:gridCol w="3505071">
                  <a:extLst>
                    <a:ext uri="{9D8B030D-6E8A-4147-A177-3AD203B41FA5}">
                      <a16:colId xmlns:a16="http://schemas.microsoft.com/office/drawing/2014/main" val="2892041637"/>
                    </a:ext>
                  </a:extLst>
                </a:gridCol>
              </a:tblGrid>
              <a:tr h="2119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Plano Básico : 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Voltado para o (profissional que está começando. Inclui funcionalidades essenciais de cadastro, emissão e controle de Ordens de Serviço (OS), e histórico de clientes)</a:t>
                      </a:r>
                    </a:p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Cadastro de Clientes do MyMei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Cadastro do MEI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Cadastro dos Clientes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OS Estruturada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Agenda Integrada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Controle de Estoque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Exportação de Dados</a:t>
                      </a:r>
                    </a:p>
                    <a:p>
                      <a:endParaRPr lang="pt-BR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199205"/>
                  </a:ext>
                </a:extLst>
              </a:tr>
              <a:tr h="2119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Plano Intermediário: 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Para o negócio em crescimento. Adiciona recursos como agendamento automático, envio de lembretes por WhatsApp, relatórios de produtividade básicos e geração de orçamentos.</a:t>
                      </a:r>
                    </a:p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Automação de Comunicação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Geração Rápida de Documentos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Controle de pagamentos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Relatórios Financeiros Simples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Relatório de gastos e despesas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Nuvem e Segurança Básica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Rastreamento em Tempo Real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Histórico Completo</a:t>
                      </a:r>
                    </a:p>
                    <a:p>
                      <a:endParaRPr lang="pt-BR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19427"/>
                  </a:ext>
                </a:extLst>
              </a:tr>
              <a:tr h="2119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Plano Avançado: 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Para o profissional consolidado. Oferece todos os recursos anteriores, integração com emissão de notas fiscais, indicadores financeiros (fluxo de caixa, ticket médio) e 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análises de dados (BI básico)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 para identificação de tendências e melhores clientes.</a:t>
                      </a:r>
                    </a:p>
                    <a:p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Auxílio à Emissão de NFS-e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Interface Intuitiva (UI)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Onboarding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Rápido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Dashboard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Visual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Alertas Proativos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itchFamily="34"/>
                        <a:buChar char="•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Declaração Anual (DASN-SIMEI) </a:t>
                      </a:r>
                    </a:p>
                    <a:p>
                      <a:endParaRPr lang="pt-BR" b="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552496"/>
                  </a:ext>
                </a:extLst>
              </a:tr>
            </a:tbl>
          </a:graphicData>
        </a:graphic>
      </p:graphicFrame>
      <p:pic>
        <p:nvPicPr>
          <p:cNvPr id="17" name="Imagem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7" y="93124"/>
            <a:ext cx="492339" cy="633413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732" y="1476389"/>
            <a:ext cx="2191056" cy="1686160"/>
          </a:xfrm>
          <a:prstGeom prst="rect">
            <a:avLst/>
          </a:prstGeom>
        </p:spPr>
      </p:pic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8280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44"/>
          <a:stretch/>
        </p:blipFill>
        <p:spPr>
          <a:xfrm>
            <a:off x="0" y="0"/>
            <a:ext cx="7559675" cy="762375"/>
          </a:xfrm>
          <a:prstGeom prst="rect">
            <a:avLst/>
          </a:prstGeom>
        </p:spPr>
      </p:pic>
      <p:sp>
        <p:nvSpPr>
          <p:cNvPr id="7" name="Retângulo Arredondado 6"/>
          <p:cNvSpPr/>
          <p:nvPr/>
        </p:nvSpPr>
        <p:spPr>
          <a:xfrm>
            <a:off x="88707" y="879962"/>
            <a:ext cx="7382254" cy="44193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Plataformas Digitais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222667" y="1857453"/>
            <a:ext cx="40809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primeira versão do MyMei será desenvolvida para a plataforma web com design responsivo, assegurando que o sistema seja plenamente acessível tanto em computadores quanto em dispositivos móveis (smartphones e tablets).</a:t>
            </a:r>
          </a:p>
          <a:p>
            <a:pPr algn="ctr"/>
            <a:endParaRPr lang="pt-BR" sz="11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t-BR" sz="11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escolha pela arquitetura web baseia-se em três pilares:</a:t>
            </a:r>
          </a:p>
          <a:p>
            <a:pPr algn="ctr"/>
            <a:endParaRPr lang="pt-BR" sz="11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Agilidade no desenvolvimento</a:t>
            </a:r>
            <a:r>
              <a:rPr lang="pt-BR" sz="11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permite entregar um sistema funcional dentro do cronograma;</a:t>
            </a:r>
          </a:p>
          <a:p>
            <a:pPr algn="ctr"/>
            <a:endParaRPr lang="pt-BR" sz="11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Facilidade de apresentação </a:t>
            </a:r>
            <a:r>
              <a:rPr lang="pt-BR" sz="11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–os usuários podem acessar e testar o sistema diretamente pelo navegador, sem necessidade de instalação;</a:t>
            </a:r>
          </a:p>
          <a:p>
            <a:pPr algn="ctr"/>
            <a:endParaRPr lang="pt-BR" sz="11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Alta cobertura de necessidades </a:t>
            </a:r>
            <a:r>
              <a:rPr lang="pt-BR" sz="11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estima-se que uma aplicação web responsiva atenda a aproximadamente 95% das demandas operacionais de um Microempreendedor Individual, incluindo cadastros, ordens de serviço, agenda, estoque e relatórios básicos.</a:t>
            </a:r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3"/>
          <a:stretch/>
        </p:blipFill>
        <p:spPr>
          <a:xfrm>
            <a:off x="0" y="8661845"/>
            <a:ext cx="7559671" cy="2029968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22" y="10042083"/>
            <a:ext cx="492339" cy="633413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7" y="93124"/>
            <a:ext cx="492339" cy="633413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1986426" y="1404420"/>
            <a:ext cx="358681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1.1 Plataforma de Desenvolvimento Web</a:t>
            </a:r>
          </a:p>
          <a:p>
            <a:pPr algn="ctr"/>
            <a:endParaRPr lang="pt-BR" sz="16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48" t="79842" r="947"/>
          <a:stretch/>
        </p:blipFill>
        <p:spPr>
          <a:xfrm>
            <a:off x="4472798" y="2108871"/>
            <a:ext cx="2672220" cy="2455553"/>
          </a:xfrm>
          <a:prstGeom prst="rect">
            <a:avLst/>
          </a:prstGeom>
        </p:spPr>
      </p:pic>
      <p:sp>
        <p:nvSpPr>
          <p:cNvPr id="15" name="Retângulo 14"/>
          <p:cNvSpPr/>
          <p:nvPr/>
        </p:nvSpPr>
        <p:spPr>
          <a:xfrm>
            <a:off x="312864" y="5276534"/>
            <a:ext cx="672190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1.2 Plataforma de Desenvolvimento (Versão 2.0 – Aplicativo Mobile e Desktop)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3143815" y="5963944"/>
            <a:ext cx="40809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segunda versão do MyMei será desenvolvida como aplicativo instalável, com versões dedicadas para dispositivos móveis (Android/iOS) e para computadores (Windows/Mac). Esta evolução permitirá que o sistema funcione de forma nativa em cada plataforma, aproveitando ao máximo os recursos do dispositivo.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01" t="13043" r="1392" b="74210"/>
          <a:stretch/>
        </p:blipFill>
        <p:spPr>
          <a:xfrm>
            <a:off x="663795" y="5751213"/>
            <a:ext cx="2474844" cy="1282148"/>
          </a:xfrm>
          <a:prstGeom prst="rect">
            <a:avLst/>
          </a:prstGeom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8797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44"/>
          <a:stretch/>
        </p:blipFill>
        <p:spPr>
          <a:xfrm>
            <a:off x="0" y="0"/>
            <a:ext cx="7559675" cy="762375"/>
          </a:xfrm>
          <a:prstGeom prst="rect">
            <a:avLst/>
          </a:prstGeom>
        </p:spPr>
      </p:pic>
      <p:sp>
        <p:nvSpPr>
          <p:cNvPr id="7" name="Retângulo Arredondado 6"/>
          <p:cNvSpPr/>
          <p:nvPr/>
        </p:nvSpPr>
        <p:spPr>
          <a:xfrm>
            <a:off x="88707" y="879962"/>
            <a:ext cx="7382254" cy="44193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Objetivos do Sistema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34876" y="1785417"/>
            <a:ext cx="7178721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t-BR" sz="11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Cadastro MyMei: 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Criar um cadastro único e organizado para quem e cliente do sistema. </a:t>
            </a:r>
          </a:p>
          <a:p>
            <a:pPr lvl="0"/>
            <a:endParaRPr lang="pt-BR" sz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Cadastro do MEI: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Criar um cadastro único e organizado para a empresa. Com todos os dados dela. </a:t>
            </a:r>
          </a:p>
          <a:p>
            <a:pPr lvl="0"/>
            <a:endParaRPr lang="pt-BR" sz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Cadastro dos Clientes: 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Pessoa ou empresa a qual o MEI presta algum serviço.</a:t>
            </a:r>
          </a:p>
          <a:p>
            <a:pPr lvl="0"/>
            <a:endParaRPr lang="pt-BR" sz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OS Estruturada: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Gerar Ordens de Serviço padronizadas com: número único, data, cliente, descrição do serviço, valor, status (Aberto/Em andamento/Concluído/Pago) e observações. Também terá Status do pagamento.</a:t>
            </a:r>
          </a:p>
          <a:p>
            <a:pPr lvl="0"/>
            <a:endParaRPr lang="pt-BR" sz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Controle de estoque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Processo de monitorar, organizar e gerenciar a entrada e saída de produtos, garantindo que a quantidade disponível seja suficiente para atender à demanda sem gerar excessos ou escassez. Ele equilibra o fluxo de mercadorias, reduzindo custos, perdas e otimizando o fluxo de caixa.</a:t>
            </a:r>
          </a:p>
          <a:p>
            <a:pPr lvl="0"/>
            <a:endParaRPr lang="pt-BR" sz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 Integrada: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Ter um calendário visual que mostre os serviços agendados por dia/semana, evitando sobreposições.</a:t>
            </a:r>
          </a:p>
          <a:p>
            <a:pPr lvl="0"/>
            <a:endParaRPr lang="pt-BR" sz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pt-BR" sz="12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Exportação de dados: </a:t>
            </a:r>
            <a:r>
              <a:rPr lang="pt-BR" sz="1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Processo de extrair informações de um sistema ou banco de dados e salvá-las em um arquivo externo para uso, análise ou backup.</a:t>
            </a:r>
          </a:p>
          <a:p>
            <a:pPr lvl="0"/>
            <a:endParaRPr lang="pt-BR" sz="1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pt-BR" sz="11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3"/>
          <a:stretch/>
        </p:blipFill>
        <p:spPr>
          <a:xfrm>
            <a:off x="0" y="8661845"/>
            <a:ext cx="7559671" cy="2029968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22" y="10042083"/>
            <a:ext cx="492339" cy="633413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7" y="93124"/>
            <a:ext cx="492339" cy="633413"/>
          </a:xfrm>
          <a:prstGeom prst="rect">
            <a:avLst/>
          </a:prstGeom>
        </p:spPr>
      </p:pic>
      <p:sp>
        <p:nvSpPr>
          <p:cNvPr id="18" name="Retângulo 17"/>
          <p:cNvSpPr/>
          <p:nvPr/>
        </p:nvSpPr>
        <p:spPr>
          <a:xfrm>
            <a:off x="3165790" y="1471759"/>
            <a:ext cx="12280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Plano Básico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8</a:t>
            </a:fld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01" t="15249" b="21144"/>
          <a:stretch/>
        </p:blipFill>
        <p:spPr>
          <a:xfrm>
            <a:off x="1902525" y="5718410"/>
            <a:ext cx="3537105" cy="439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234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44"/>
          <a:stretch/>
        </p:blipFill>
        <p:spPr>
          <a:xfrm>
            <a:off x="0" y="0"/>
            <a:ext cx="7559675" cy="762375"/>
          </a:xfrm>
          <a:prstGeom prst="rect">
            <a:avLst/>
          </a:prstGeom>
        </p:spPr>
      </p:pic>
      <p:pic>
        <p:nvPicPr>
          <p:cNvPr id="19" name="Imagem 1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3"/>
          <a:stretch/>
        </p:blipFill>
        <p:spPr>
          <a:xfrm>
            <a:off x="0" y="8661845"/>
            <a:ext cx="7559671" cy="2029968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22" y="10042083"/>
            <a:ext cx="492339" cy="633413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7" y="93124"/>
            <a:ext cx="492339" cy="633413"/>
          </a:xfrm>
          <a:prstGeom prst="rect">
            <a:avLst/>
          </a:prstGeom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1A57-1C3B-4C80-B070-41ED3E39E88B}" type="slidenum">
              <a:rPr lang="pt-BR" smtClean="0"/>
              <a:t>9</a:t>
            </a:fld>
            <a:endParaRPr lang="pt-BR"/>
          </a:p>
        </p:txBody>
      </p:sp>
      <p:sp>
        <p:nvSpPr>
          <p:cNvPr id="22" name="Retângulo Arredondado 21"/>
          <p:cNvSpPr/>
          <p:nvPr/>
        </p:nvSpPr>
        <p:spPr>
          <a:xfrm>
            <a:off x="88707" y="879962"/>
            <a:ext cx="7382254" cy="44193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Imagens do MyMei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01" t="15249" b="21144"/>
          <a:stretch/>
        </p:blipFill>
        <p:spPr>
          <a:xfrm>
            <a:off x="210206" y="1526582"/>
            <a:ext cx="1629104" cy="202591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14" t="8367" r="23532" b="13845"/>
          <a:stretch/>
        </p:blipFill>
        <p:spPr>
          <a:xfrm>
            <a:off x="2007475" y="1744716"/>
            <a:ext cx="1736153" cy="171318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462" y="1548305"/>
            <a:ext cx="3310759" cy="496613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95" b="10647"/>
          <a:stretch/>
        </p:blipFill>
        <p:spPr>
          <a:xfrm>
            <a:off x="210208" y="3689367"/>
            <a:ext cx="1650123" cy="1176922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2" t="2462" b="9632"/>
          <a:stretch/>
        </p:blipFill>
        <p:spPr>
          <a:xfrm>
            <a:off x="1912884" y="3595921"/>
            <a:ext cx="2081047" cy="1501597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771" y="6779169"/>
            <a:ext cx="1306049" cy="1306049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22" y="5179628"/>
            <a:ext cx="3525782" cy="5288674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59" y="8342267"/>
            <a:ext cx="3132083" cy="208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9927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1732</TotalTime>
  <Words>968</Words>
  <Application>Microsoft Office PowerPoint</Application>
  <PresentationFormat>Personalizar</PresentationFormat>
  <Paragraphs>119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Casa</dc:creator>
  <cp:lastModifiedBy>Casa</cp:lastModifiedBy>
  <cp:revision>353</cp:revision>
  <dcterms:created xsi:type="dcterms:W3CDTF">2026-04-28T17:52:11Z</dcterms:created>
  <dcterms:modified xsi:type="dcterms:W3CDTF">2026-06-01T12:20:46Z</dcterms:modified>
</cp:coreProperties>
</file>